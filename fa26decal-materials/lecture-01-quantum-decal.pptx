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IBM Plex Sans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IBM Plex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orris Hsu"/>
  <p:cmAuthor clrIdx="1" id="1" initials="" lastIdx="1" name="Ian Alexander Loa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IBMPlexSans-bold.fntdata"/><Relationship Id="rId27" Type="http://schemas.openxmlformats.org/officeDocument/2006/relationships/font" Target="fonts/IBMPlex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BMPlexSans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regular.fntdata"/><Relationship Id="rId30" Type="http://schemas.openxmlformats.org/officeDocument/2006/relationships/font" Target="fonts/IBMPlexSans-boldItalic.fntdata"/><Relationship Id="rId11" Type="http://schemas.openxmlformats.org/officeDocument/2006/relationships/slide" Target="slides/slide4.xml"/><Relationship Id="rId33" Type="http://schemas.openxmlformats.org/officeDocument/2006/relationships/font" Target="fonts/Roboto-italic.fntdata"/><Relationship Id="rId10" Type="http://schemas.openxmlformats.org/officeDocument/2006/relationships/slide" Target="slides/slide3.xml"/><Relationship Id="rId32" Type="http://schemas.openxmlformats.org/officeDocument/2006/relationships/font" Target="fonts/Roboto-bold.fntdata"/><Relationship Id="rId13" Type="http://schemas.openxmlformats.org/officeDocument/2006/relationships/slide" Target="slides/slide6.xml"/><Relationship Id="rId35" Type="http://schemas.openxmlformats.org/officeDocument/2006/relationships/font" Target="fonts/IBMPlexMono-regular.fntdata"/><Relationship Id="rId12" Type="http://schemas.openxmlformats.org/officeDocument/2006/relationships/slide" Target="slides/slide5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8.xml"/><Relationship Id="rId37" Type="http://schemas.openxmlformats.org/officeDocument/2006/relationships/font" Target="fonts/IBMPlexMono-italic.fntdata"/><Relationship Id="rId14" Type="http://schemas.openxmlformats.org/officeDocument/2006/relationships/slide" Target="slides/slide7.xml"/><Relationship Id="rId36" Type="http://schemas.openxmlformats.org/officeDocument/2006/relationships/font" Target="fonts/IBMPlexMon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IBMPlexMon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9T21:56:47.444">
    <p:pos x="2129" y="421"/>
    <p:text>modify?</p:text>
  </p:cm>
  <p:cm authorId="1" idx="1" dt="2026-08-29T21:56:47.444">
    <p:pos x="2129" y="421"/>
    <p:text>i removed the harmutt stuff i would modify to fill in the space. also i think we changed some of the titles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c552aa54_0_1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9c552aa54_0_15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9c552aa54_0_1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9c552aa54_0_16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9c552aa54_0_16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9c552aa54_0_16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c552aa54_0_19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c552aa54_0_19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9c552aa54_0_19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81e9d15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a81e9d15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c552aa54_0_20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9c552aa54_0_20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9c552aa54_0_20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c552aa54_0_22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9c552aa54_0_22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9c552aa54_0_22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9c552aa54_0_24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f9c552aa54_0_24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9c552aa54_0_24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9c552aa54_0_2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9c552aa54_0_27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9c552aa54_0_2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a81e9d15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a81e9d15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a81e9d15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a81e9d15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a81e9d15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a81e9d1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a81e9d15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a81e9d15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a81e9d15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a81e9d15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a81e9d1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a81e9d1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c552aa54_0_30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9c552aa54_0_30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9c552aa54_0_30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475d0fbc5_2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475d0fbc5_2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f9417c8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af9417c8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af909fd3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af909fd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gif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hyperlink" Target="https://qcb.studentorg.berkeley.edu/education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514295" y="1857933"/>
            <a:ext cx="5626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C6CBD4"/>
                </a:solidFill>
                <a:latin typeface="IBM Plex Mono"/>
                <a:ea typeface="IBM Plex Mono"/>
                <a:cs typeface="IBM Plex Mono"/>
                <a:sym typeface="IBM Plex Mono"/>
              </a:rPr>
              <a:t>CS 198 · FALL 2026 · LECTURE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14295" y="2212889"/>
            <a:ext cx="52683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787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IBM Plex Sans"/>
              <a:buNone/>
            </a:pPr>
            <a:r>
              <a:rPr b="0" i="0" lang="en" sz="46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Algorithms DeCal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14295" y="3593501"/>
            <a:ext cx="5067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Lecture 1: Introduction and Syllabus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14295" y="4093564"/>
            <a:ext cx="1714500" cy="7200"/>
          </a:xfrm>
          <a:prstGeom prst="rect">
            <a:avLst/>
          </a:prstGeom>
          <a:solidFill>
            <a:srgbClr val="FFFF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295" y="4300622"/>
            <a:ext cx="623472" cy="328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514295" y="514295"/>
            <a:ext cx="8926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IBM Plex Sans"/>
              <a:buNone/>
            </a:pPr>
            <a:r>
              <a:rPr b="0" i="0" lang="en" sz="29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Instructors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14295" y="1217786"/>
            <a:ext cx="1245300" cy="1245300"/>
          </a:xfrm>
          <a:prstGeom prst="roundRect">
            <a:avLst>
              <a:gd fmla="val 5736" name="adj"/>
            </a:avLst>
          </a:prstGeom>
          <a:solidFill>
            <a:srgbClr val="0E1013"/>
          </a:solidFill>
          <a:ln cap="flat" cmpd="sng" w="715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59" y="1222251"/>
            <a:ext cx="1236483" cy="123648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514295" y="2548868"/>
            <a:ext cx="137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John Wright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14295" y="2871523"/>
            <a:ext cx="13701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Faculty advisor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88280" y="1217786"/>
            <a:ext cx="1245300" cy="1245300"/>
          </a:xfrm>
          <a:prstGeom prst="roundRect">
            <a:avLst>
              <a:gd fmla="val 5736" name="adj"/>
            </a:avLst>
          </a:prstGeom>
          <a:solidFill>
            <a:srgbClr val="0E1013"/>
          </a:solidFill>
          <a:ln cap="flat" cmpd="sng" w="715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2745" y="1222251"/>
            <a:ext cx="1236483" cy="123648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1888280" y="2548868"/>
            <a:ext cx="137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Kepha Sher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888280" y="2871523"/>
            <a:ext cx="1302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kephasher@ berkeley.edu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262266" y="1217786"/>
            <a:ext cx="1245300" cy="1245300"/>
          </a:xfrm>
          <a:prstGeom prst="roundRect">
            <a:avLst>
              <a:gd fmla="val 5736" name="adj"/>
            </a:avLst>
          </a:prstGeom>
          <a:solidFill>
            <a:srgbClr val="0E1013"/>
          </a:solidFill>
          <a:ln cap="flat" cmpd="sng" w="715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6731" y="1222251"/>
            <a:ext cx="1236483" cy="123648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3262266" y="2548868"/>
            <a:ext cx="137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Ian Loam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262266" y="2871523"/>
            <a:ext cx="1302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ianloam</a:t>
            </a:r>
            <a:endParaRPr b="0" i="0" sz="800" u="none" cap="none" strike="noStrike">
              <a:solidFill>
                <a:srgbClr val="98A0A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@berkeley.edu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636252" y="1217786"/>
            <a:ext cx="1245300" cy="1245300"/>
          </a:xfrm>
          <a:prstGeom prst="roundRect">
            <a:avLst>
              <a:gd fmla="val 5736" name="adj"/>
            </a:avLst>
          </a:prstGeom>
          <a:solidFill>
            <a:srgbClr val="0E1013"/>
          </a:solidFill>
          <a:ln cap="flat" cmpd="sng" w="715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0716" y="1222251"/>
            <a:ext cx="1236483" cy="123648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4636252" y="2548868"/>
            <a:ext cx="137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Jason Dong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636252" y="2871523"/>
            <a:ext cx="1302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jasondong1</a:t>
            </a:r>
            <a:endParaRPr b="0" i="0" sz="800" u="none" cap="none" strike="noStrike">
              <a:solidFill>
                <a:srgbClr val="98A0A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@berkeley.edu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010238" y="1217786"/>
            <a:ext cx="1245300" cy="1245300"/>
          </a:xfrm>
          <a:prstGeom prst="roundRect">
            <a:avLst>
              <a:gd fmla="val 5736" name="adj"/>
            </a:avLst>
          </a:prstGeom>
          <a:solidFill>
            <a:srgbClr val="0E1013"/>
          </a:solidFill>
          <a:ln cap="flat" cmpd="sng" w="715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4703" y="1222251"/>
            <a:ext cx="1236483" cy="123648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6010238" y="2548868"/>
            <a:ext cx="137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Bruno Leopoldo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010238" y="2871523"/>
            <a:ext cx="1302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brunoleopoldo</a:t>
            </a:r>
            <a:endParaRPr b="0" i="0" sz="800" u="none" cap="none" strike="noStrike">
              <a:solidFill>
                <a:srgbClr val="98A0A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@berkeley.edu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7384224" y="1217786"/>
            <a:ext cx="1245300" cy="1245300"/>
          </a:xfrm>
          <a:prstGeom prst="roundRect">
            <a:avLst>
              <a:gd fmla="val 5736" name="adj"/>
            </a:avLst>
          </a:prstGeom>
          <a:solidFill>
            <a:srgbClr val="0E1013"/>
          </a:solidFill>
          <a:ln cap="flat" cmpd="sng" w="7150">
            <a:solidFill>
              <a:srgbClr val="FFFF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88689" y="1222251"/>
            <a:ext cx="1236483" cy="12364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7384224" y="2548868"/>
            <a:ext cx="137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Morris Hsu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7384224" y="2871523"/>
            <a:ext cx="1302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morris.c.hsu</a:t>
            </a:r>
            <a:endParaRPr b="0" i="0" sz="800" u="none" cap="none" strike="noStrike">
              <a:solidFill>
                <a:srgbClr val="98A0A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@berkeley.edu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14295" y="4231904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514295" y="4393476"/>
            <a:ext cx="37146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Office hours are held every week @ Campbell 101.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9">
            <a:alphaModFix amt="45000"/>
          </a:blip>
          <a:srcRect b="0" l="0" r="0" t="0"/>
          <a:stretch/>
        </p:blipFill>
        <p:spPr>
          <a:xfrm>
            <a:off x="8491086" y="4414893"/>
            <a:ext cx="138620" cy="214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514295" y="514295"/>
            <a:ext cx="8926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IBM Plex Sans"/>
              <a:buNone/>
            </a:pPr>
            <a:r>
              <a:rPr b="0" i="0" lang="en" sz="29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Overview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14295" y="1203485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14295" y="1439145"/>
            <a:ext cx="8358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purpose of this course is to survey the development of quantum algorithms, from Shor's original breakthrough to more recent approaches.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14295" y="2196284"/>
            <a:ext cx="79806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Students will learn about extensions on classic results, gaining a modern perspective on original algorithms. Special topics lectures inspire students to explore their own interests.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b="0" i="0" lang="en" sz="2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Prerequisites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514295" y="112855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Linear Algebra (Math 54, Physics 89 or equivalent) and python programming experience (e.g. CS 61A or equivalent). Knowledge of Physics 191A, or concurrent enrollment, is strongly preferred. </a:t>
            </a: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instructor permission required.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14295" y="2119685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514295" y="2297999"/>
            <a:ext cx="8926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61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Sans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14295" y="3128600"/>
            <a:ext cx="8115300" cy="7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514295" y="2858198"/>
            <a:ext cx="442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1071423" y="2831408"/>
            <a:ext cx="8314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Be very comfortable with well-known algorithms such as Grover, Shor, Quantum Phase Estimation.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14295" y="3714471"/>
            <a:ext cx="8115300" cy="7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514295" y="3238407"/>
            <a:ext cx="442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071423" y="3211618"/>
            <a:ext cx="7785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Understand the basics of algorithmic analysis applied to quantum algorithms, including results on quantum advantage.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14295" y="4094681"/>
            <a:ext cx="8115300" cy="7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514295" y="3824279"/>
            <a:ext cx="442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071423" y="3797489"/>
            <a:ext cx="8314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Hands-on experience with implementing quantum algorithms using Qiskit.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14295" y="4204487"/>
            <a:ext cx="442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071423" y="4177699"/>
            <a:ext cx="7785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Learn about algorithms developed since, developing a well thought out final project that involves one of these approaches.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/>
          <p:nvPr/>
        </p:nvSpPr>
        <p:spPr>
          <a:xfrm>
            <a:off x="514295" y="514295"/>
            <a:ext cx="8926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IBM Plex Sans"/>
              <a:buNone/>
            </a:pPr>
            <a:r>
              <a:rPr b="0" i="0" lang="en" sz="29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Requirements and grading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514295" y="1117816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514295" y="1257970"/>
            <a:ext cx="1964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3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BM Plex Sans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2543078" y="1307083"/>
            <a:ext cx="66954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Attending the two lectures per week.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14295" y="1732220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514295" y="1872374"/>
            <a:ext cx="1964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3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BM Plex Sans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Homeworks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2543078" y="1921487"/>
            <a:ext cx="66954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Optional (but highly recommended)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514295" y="3451394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514295" y="2346624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514295" y="2486779"/>
            <a:ext cx="1964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3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BM Plex Sans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 project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543078" y="2535892"/>
            <a:ext cx="6269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A capstone project on a topic of your choice. Explore an algorithm not discussed in class, or an extension of what we talked about, and present it to the class.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14295" y="3612965"/>
            <a:ext cx="135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D757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D757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707189" y="3612965"/>
            <a:ext cx="42510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Graded P/NP — attendance 20%, final project 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14295" y="3932621"/>
            <a:ext cx="135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D757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D757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707189" y="3932621"/>
            <a:ext cx="53373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unexcused absences. Excused absences by email in advance.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514295" y="4252275"/>
            <a:ext cx="135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D757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D757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707189" y="4252275"/>
            <a:ext cx="52410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Lectures are not recorded. Slides are posted after each lecture.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b="0" i="0" lang="en" sz="2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Schedule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14295" y="1142861"/>
            <a:ext cx="58578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14295" y="1358917"/>
            <a:ext cx="743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W1–3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1371475" y="1283015"/>
            <a:ext cx="4290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BM Plex Sans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Introductory Material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5443482" y="1376777"/>
            <a:ext cx="1021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514295" y="1712058"/>
            <a:ext cx="58578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514295" y="1928115"/>
            <a:ext cx="743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W4–6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371475" y="1852213"/>
            <a:ext cx="4290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BM Plex Sans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443482" y="1945974"/>
            <a:ext cx="1021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14295" y="2281256"/>
            <a:ext cx="58578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514295" y="2497313"/>
            <a:ext cx="743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W7–11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371475" y="2421410"/>
            <a:ext cx="4290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BM Plex Sans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Hamiltonian Simulations and Beyond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443482" y="2515172"/>
            <a:ext cx="1021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14295" y="2850454"/>
            <a:ext cx="58578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514295" y="3066511"/>
            <a:ext cx="743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W12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371475" y="2990609"/>
            <a:ext cx="4290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BM Plex Sans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Special Topics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443482" y="3084370"/>
            <a:ext cx="1021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14295" y="3988850"/>
            <a:ext cx="58578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14295" y="3419652"/>
            <a:ext cx="58578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14295" y="3635708"/>
            <a:ext cx="743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789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IBM Plex Mono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W13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371475" y="3559806"/>
            <a:ext cx="4290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BM Plex Sans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 Project — workshops and presentations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443482" y="3653568"/>
            <a:ext cx="1021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8A0AD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14295" y="4380919"/>
            <a:ext cx="892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9040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This is a tentative schedule and would be updated based on student interests/feedback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b="0" i="0" lang="en" sz="2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Materials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514295" y="1114258"/>
            <a:ext cx="4243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BM Plex Sans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514295" y="1544487"/>
            <a:ext cx="3973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Students are required to read the sections corresponding to lecture for the texts below.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14295" y="2087315"/>
            <a:ext cx="38577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14295" y="2170333"/>
            <a:ext cx="4243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9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Lecture Notes on Quantum Algorithms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14295" y="2403133"/>
            <a:ext cx="4243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789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Childs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14295" y="2684766"/>
            <a:ext cx="38577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14295" y="2767784"/>
            <a:ext cx="39735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9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Lecture Notes on Quantum Algorithms for Scientific Computation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14295" y="3204851"/>
            <a:ext cx="4243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789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Lin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14295" y="4083937"/>
            <a:ext cx="38577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514295" y="3486485"/>
            <a:ext cx="38577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14295" y="3569503"/>
            <a:ext cx="4243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9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Computing: Lecture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14295" y="3802303"/>
            <a:ext cx="4243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7891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de Wolf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772011" y="1114258"/>
            <a:ext cx="4243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BM Plex Sans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Supplemental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772011" y="1544487"/>
            <a:ext cx="3973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6CBD4"/>
                </a:solidFill>
                <a:latin typeface="Arial"/>
                <a:ea typeface="Arial"/>
                <a:cs typeface="Arial"/>
                <a:sym typeface="Arial"/>
              </a:rPr>
              <a:t>Students are encouraged to learn more by going over the following materials.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772011" y="2087315"/>
            <a:ext cx="42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Quantum Computation and Quantum Information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772011" y="2308743"/>
            <a:ext cx="4243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Nielsen &amp; Chuang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4772011" y="2574401"/>
            <a:ext cx="42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Classical and Quantum Computation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772011" y="2795829"/>
            <a:ext cx="4243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Kitaev, Shen &amp; Vyalyi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772011" y="3061487"/>
            <a:ext cx="42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Quantum Algorithm Zoo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772011" y="3347168"/>
            <a:ext cx="42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Qiskit Textbook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14295" y="4281716"/>
            <a:ext cx="8115300" cy="72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14295" y="4414768"/>
            <a:ext cx="8358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37234"/>
              </a:lnSpc>
              <a:spcBef>
                <a:spcPts val="0"/>
              </a:spcBef>
              <a:spcAft>
                <a:spcPts val="0"/>
              </a:spcAft>
              <a:buClr>
                <a:srgbClr val="98A0AD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Our website contains additional resources and examples of past projects. Links to all readings are on the syllabus.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/>
        </p:nvSpPr>
        <p:spPr>
          <a:xfrm>
            <a:off x="1921500" y="1151400"/>
            <a:ext cx="4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lang="en" sz="2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Wisdom from Vazirani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14295" y="115140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Newtonian Physics tells us that the laws of nature are described by local differential equations</a:t>
            </a:r>
            <a:endParaRPr>
              <a:solidFill>
                <a:srgbClr val="C6CBD4"/>
              </a:solidFill>
            </a:endParaRPr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00371"/>
            <a:ext cx="25717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/>
        </p:nvSpPr>
        <p:spPr>
          <a:xfrm>
            <a:off x="1921500" y="1151400"/>
            <a:ext cx="4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lang="en" sz="2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Wisdom</a:t>
            </a:r>
            <a:r>
              <a:rPr lang="en" sz="2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from Vazirani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514295" y="115140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N</a:t>
            </a:r>
            <a:r>
              <a:rPr lang="en">
                <a:solidFill>
                  <a:srgbClr val="C6CBD4"/>
                </a:solidFill>
              </a:rPr>
              <a:t>ewtonian Physics tells us that the laws of nature are described by local differential </a:t>
            </a:r>
            <a:r>
              <a:rPr lang="en">
                <a:solidFill>
                  <a:srgbClr val="C6CBD4"/>
                </a:solidFill>
              </a:rPr>
              <a:t>equations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Assume space and time are discrete:</a:t>
            </a:r>
            <a:endParaRPr>
              <a:solidFill>
                <a:srgbClr val="C6CBD4"/>
              </a:solidFill>
            </a:endParaRPr>
          </a:p>
        </p:txBody>
      </p:sp>
      <p:pic>
        <p:nvPicPr>
          <p:cNvPr id="234" name="Google Shape;234;p24" title="game-of-life-loop-cropp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925" y="2169134"/>
            <a:ext cx="4741047" cy="29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00384"/>
            <a:ext cx="25717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/>
          <p:nvPr/>
        </p:nvSpPr>
        <p:spPr>
          <a:xfrm>
            <a:off x="1921500" y="1151400"/>
            <a:ext cx="4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BM Plex Sans"/>
              <a:buNone/>
            </a:pPr>
            <a:r>
              <a:rPr lang="en" sz="2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Wisdom from Vazirani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14295" y="115140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Newtonian Physics tells us that the laws of nature are described by local differential equations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Assume space and time are discrete: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Then the laws of nature are </a:t>
            </a:r>
            <a:r>
              <a:rPr lang="en">
                <a:solidFill>
                  <a:srgbClr val="C6CBD4"/>
                </a:solidFill>
              </a:rPr>
              <a:t>cellular</a:t>
            </a:r>
            <a:r>
              <a:rPr lang="en">
                <a:solidFill>
                  <a:srgbClr val="C6CBD4"/>
                </a:solidFill>
              </a:rPr>
              <a:t> automata!</a:t>
            </a:r>
            <a:endParaRPr>
              <a:solidFill>
                <a:srgbClr val="C6CBD4"/>
              </a:solidFill>
            </a:endParaRPr>
          </a:p>
        </p:txBody>
      </p:sp>
      <p:pic>
        <p:nvPicPr>
          <p:cNvPr id="243" name="Google Shape;243;p25" title="game-of-life-loop-cropp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925" y="2169134"/>
            <a:ext cx="4741047" cy="29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00384"/>
            <a:ext cx="25717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/>
        </p:nvSpPr>
        <p:spPr>
          <a:xfrm>
            <a:off x="1921500" y="1151400"/>
            <a:ext cx="4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lang="en" sz="2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Physics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514295" y="115140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However, this is not what happens!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br>
              <a:rPr lang="en">
                <a:solidFill>
                  <a:srgbClr val="C6CBD4"/>
                </a:solidFill>
              </a:rPr>
            </a:br>
            <a:r>
              <a:rPr lang="en">
                <a:solidFill>
                  <a:srgbClr val="C6CBD4"/>
                </a:solidFill>
              </a:rPr>
              <a:t>Quantum Mechanics is described by an exponentially large wavefunction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The state of n classical bits is just nn bits, whereas describing an arbitrary state of n qubits classically requires 2^n amplitudes.</a:t>
            </a:r>
            <a:endParaRPr>
              <a:solidFill>
                <a:srgbClr val="C6CBD4"/>
              </a:solidFill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0" y="0"/>
            <a:ext cx="3000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921500" y="1151400"/>
            <a:ext cx="4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lang="en" sz="2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Feynman’s Idea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514295" y="115140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Use the quantum physics to simulate the quantum physics </a:t>
            </a:r>
            <a:endParaRPr>
              <a:solidFill>
                <a:srgbClr val="C6CBD4"/>
              </a:solidFill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0" y="0"/>
            <a:ext cx="3000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3">
            <a:alphaModFix amt="81000"/>
          </a:blip>
          <a:srcRect b="0" l="54783" r="13637" t="0"/>
          <a:stretch/>
        </p:blipFill>
        <p:spPr>
          <a:xfrm>
            <a:off x="6514726" y="0"/>
            <a:ext cx="2629277" cy="302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50" y="2058134"/>
            <a:ext cx="2161344" cy="288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/>
        </p:nvSpPr>
        <p:spPr>
          <a:xfrm>
            <a:off x="1921500" y="1151400"/>
            <a:ext cx="43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514295" y="514295"/>
            <a:ext cx="8926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53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BM Plex Sans"/>
              <a:buNone/>
            </a:pPr>
            <a:r>
              <a:rPr lang="en" sz="2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Study Quantum Computing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514295" y="1128559"/>
            <a:ext cx="8358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Exploiting the laws of nature for computation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A view of Natural Law as a computational subject</a:t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C6CBD4"/>
              </a:solidFill>
            </a:endParaRPr>
          </a:p>
          <a:p>
            <a:pPr indent="0" lvl="0" marL="0" marR="0" rtl="0" algn="l">
              <a:lnSpc>
                <a:spcPct val="128889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400"/>
              <a:buFont typeface="Arial"/>
              <a:buNone/>
            </a:pPr>
            <a:r>
              <a:rPr lang="en">
                <a:solidFill>
                  <a:srgbClr val="C6CBD4"/>
                </a:solidFill>
              </a:rPr>
              <a:t>(See Aaronson - P NP and Physical Reality)</a:t>
            </a:r>
            <a:endParaRPr>
              <a:solidFill>
                <a:srgbClr val="C6CBD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5" name="Google Shape;2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758" y="895620"/>
            <a:ext cx="1246949" cy="65717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/>
          <p:nvPr/>
        </p:nvSpPr>
        <p:spPr>
          <a:xfrm>
            <a:off x="7200955" y="1781333"/>
            <a:ext cx="1428900" cy="7200"/>
          </a:xfrm>
          <a:prstGeom prst="rect">
            <a:avLst/>
          </a:prstGeom>
          <a:solidFill>
            <a:srgbClr val="FFFF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5038835" y="2016993"/>
            <a:ext cx="3590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IBM Plex Mono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IBM Plex Mono"/>
                <a:ea typeface="IBM Plex Mono"/>
                <a:cs typeface="IBM Plex Mono"/>
                <a:sym typeface="IBM Plex Mono"/>
              </a:rPr>
              <a:t>qcb.studentorg.berkeley.edu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5038835" y="2339648"/>
            <a:ext cx="3590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23460"/>
              </a:lnSpc>
              <a:spcBef>
                <a:spcPts val="0"/>
              </a:spcBef>
              <a:spcAft>
                <a:spcPts val="0"/>
              </a:spcAft>
              <a:buClr>
                <a:srgbClr val="C6CBD4"/>
              </a:buClr>
              <a:buSzPts val="1200"/>
              <a:buFont typeface="IBM Plex Mono"/>
              <a:buNone/>
            </a:pPr>
            <a:r>
              <a:rPr b="0" i="0" lang="en" sz="1200" u="none" cap="none" strike="noStrike">
                <a:solidFill>
                  <a:srgbClr val="C6CBD4"/>
                </a:solidFill>
                <a:latin typeface="IBM Plex Mono"/>
                <a:ea typeface="IBM Plex Mono"/>
                <a:cs typeface="IBM Plex Mono"/>
                <a:sym typeface="IBM Plex Mono"/>
              </a:rPr>
              <a:t>Office hours </a:t>
            </a:r>
            <a:r>
              <a:rPr lang="en" sz="1200">
                <a:solidFill>
                  <a:srgbClr val="C6CBD4"/>
                </a:solidFill>
                <a:latin typeface="IBM Plex Mono"/>
                <a:ea typeface="IBM Plex Mono"/>
                <a:cs typeface="IBM Plex Mono"/>
                <a:sym typeface="IBM Plex Mono"/>
              </a:rPr>
              <a:t>after class</a:t>
            </a:r>
            <a:r>
              <a:rPr b="0" i="0" lang="en" sz="1200" u="none" cap="none" strike="noStrike">
                <a:solidFill>
                  <a:srgbClr val="C6CBD4"/>
                </a:solidFill>
                <a:latin typeface="IBM Plex Mono"/>
                <a:ea typeface="IBM Plex Mono"/>
                <a:cs typeface="IBM Plex Mono"/>
                <a:sym typeface="IBM Plex Mono"/>
              </a:rPr>
              <a:t> — Campbell 101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3484523" y="2805178"/>
            <a:ext cx="51450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Feedback. </a:t>
            </a:r>
            <a:r>
              <a:rPr b="0" i="0" lang="en" sz="11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Each week we will have an attendance form, in which students can voice anything that they like and anything that they wish were different.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3484523" y="3319402"/>
            <a:ext cx="51450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Accommodations. </a:t>
            </a:r>
            <a:r>
              <a:rPr b="0" i="0" lang="en" sz="1100" u="none" cap="none" strike="noStrike">
                <a:solidFill>
                  <a:srgbClr val="98A0AD"/>
                </a:solidFill>
                <a:latin typeface="Arial"/>
                <a:ea typeface="Arial"/>
                <a:cs typeface="Arial"/>
                <a:sym typeface="Arial"/>
              </a:rPr>
              <a:t>The DSP office must determine or verify accommodations before they can be offered. Please contact the instructor when a request has been filed.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3134851" y="4040753"/>
            <a:ext cx="5495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6D757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D757F"/>
                </a:solidFill>
                <a:latin typeface="Arial"/>
                <a:ea typeface="Arial"/>
                <a:cs typeface="Arial"/>
                <a:sym typeface="Arial"/>
              </a:rPr>
              <a:t>The syllabus is subject to change.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ctrTitle"/>
          </p:nvPr>
        </p:nvSpPr>
        <p:spPr>
          <a:xfrm>
            <a:off x="151200" y="902800"/>
            <a:ext cx="8841600" cy="17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Algorithms Decal</a:t>
            </a:r>
            <a:endParaRPr/>
          </a:p>
        </p:txBody>
      </p:sp>
      <p:sp>
        <p:nvSpPr>
          <p:cNvPr id="287" name="Google Shape;287;p30"/>
          <p:cNvSpPr txBox="1"/>
          <p:nvPr>
            <p:ph idx="1" type="subTitle"/>
          </p:nvPr>
        </p:nvSpPr>
        <p:spPr>
          <a:xfrm>
            <a:off x="260850" y="27595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r>
              <a:rPr lang="en"/>
              <a:t> </a:t>
            </a:r>
            <a:r>
              <a:rPr lang="en"/>
              <a:t>Undergraduate Quantum Community at UC Berkeley</a:t>
            </a:r>
            <a:endParaRPr/>
          </a:p>
        </p:txBody>
      </p:sp>
      <p:pic>
        <p:nvPicPr>
          <p:cNvPr id="288" name="Google Shape;2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38" y="3310430"/>
            <a:ext cx="3234115" cy="161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/>
          <p:nvPr/>
        </p:nvSpPr>
        <p:spPr>
          <a:xfrm>
            <a:off x="156075" y="357800"/>
            <a:ext cx="30972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Course in Quantum Algorithms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two-unit DeCal course run by QC@B. CS194 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Advised by Prof. John Wright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075" y="2681974"/>
            <a:ext cx="1943240" cy="1295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0904" y="668850"/>
            <a:ext cx="3172877" cy="3805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1770" y="1224938"/>
            <a:ext cx="2391776" cy="13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1775" y="2645275"/>
            <a:ext cx="2391773" cy="149786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1"/>
          <p:cNvSpPr txBox="1"/>
          <p:nvPr/>
        </p:nvSpPr>
        <p:spPr>
          <a:xfrm>
            <a:off x="191339" y="4025003"/>
            <a:ext cx="1266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John Wright.</a:t>
            </a:r>
            <a:br>
              <a:rPr lang="en" sz="8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Quantum Complexity</a:t>
            </a:r>
            <a:endParaRPr sz="81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4805350" y="74225"/>
            <a:ext cx="29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https://qcb.berkeley.edu/education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301" name="Google Shape;301;p31"/>
          <p:cNvSpPr txBox="1"/>
          <p:nvPr/>
        </p:nvSpPr>
        <p:spPr>
          <a:xfrm>
            <a:off x="4142888" y="4351800"/>
            <a:ext cx="1722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Fall 2026 Syllabus</a:t>
            </a:r>
            <a:endParaRPr sz="1019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2"/>
          <p:cNvPicPr preferRelativeResize="0"/>
          <p:nvPr/>
        </p:nvPicPr>
        <p:blipFill rotWithShape="1">
          <a:blip r:embed="rId3">
            <a:alphaModFix amt="81000"/>
          </a:blip>
          <a:srcRect b="0" l="54783" r="13637" t="0"/>
          <a:stretch/>
        </p:blipFill>
        <p:spPr>
          <a:xfrm>
            <a:off x="6514726" y="0"/>
            <a:ext cx="2629277" cy="302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2"/>
          <p:cNvSpPr txBox="1"/>
          <p:nvPr/>
        </p:nvSpPr>
        <p:spPr>
          <a:xfrm>
            <a:off x="1921500" y="1151400"/>
            <a:ext cx="430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Make a few slides motivating quantum computing, no math yet,  just introducing the topic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726" y="0"/>
            <a:ext cx="2629277" cy="302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/>
        </p:nvSpPr>
        <p:spPr>
          <a:xfrm>
            <a:off x="1921500" y="1151400"/>
            <a:ext cx="430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Explain projects briefly (maybe doesnt require whole slide?)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